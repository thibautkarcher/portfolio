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06D006D-EF1B-4D34-B3C7-19F9FCD0BD6F}">
  <a:tblStyle styleId="{A06D006D-EF1B-4D34-B3C7-19F9FCD0BD6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4263" autoAdjust="0"/>
  </p:normalViewPr>
  <p:slideViewPr>
    <p:cSldViewPr snapToGrid="0">
      <p:cViewPr>
        <p:scale>
          <a:sx n="100" d="100"/>
          <a:sy n="100" d="100"/>
        </p:scale>
        <p:origin x="1972" y="5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a6a01465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a6a01465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Je vais donc commencer par vous présenter le câblage de la borne. Nous avons réalisé nous-même les câbles servant à connecter la borne. Ce sont donc des câbles</a:t>
            </a:r>
            <a:r>
              <a:rPr lang="fr" b="1"/>
              <a:t> RJ45 </a:t>
            </a:r>
            <a:r>
              <a:rPr lang="fr" b="1">
                <a:solidFill>
                  <a:schemeClr val="dk1"/>
                </a:solidFill>
                <a:latin typeface="Calibri"/>
                <a:ea typeface="Calibri"/>
                <a:cs typeface="Calibri"/>
                <a:sym typeface="Calibri"/>
              </a:rPr>
              <a:t>S/FTP </a:t>
            </a:r>
            <a:r>
              <a:rPr lang="fr" b="1"/>
              <a:t>de norme ISO/IEC, catégorie 7</a:t>
            </a:r>
            <a:r>
              <a:rPr lang="fr"/>
              <a:t>. Pour le câblage des files de cuivre nous avons choisi la norme </a:t>
            </a:r>
            <a:r>
              <a:rPr lang="fr" b="1"/>
              <a:t>T568B</a:t>
            </a:r>
            <a:r>
              <a:rPr lang="fr"/>
              <a:t>. Le câble souple noir sert à relier l’AP au switch PoE le câble rouge avec les connecteurs femelles relie les deux salles (communication contrôleur/AP/réseau IUT.)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a6a014659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a6a014659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802.3af pour les Wifi af pour voip, poe+ caméras et alarmes poe++ deux fois plus puissant</a:t>
            </a:r>
            <a:endParaRPr/>
          </a:p>
          <a:p>
            <a:pPr marL="0" lvl="0" indent="0" algn="l" rtl="0">
              <a:spcBef>
                <a:spcPts val="0"/>
              </a:spcBef>
              <a:spcAft>
                <a:spcPts val="0"/>
              </a:spcAft>
              <a:buNone/>
            </a:pPr>
            <a:r>
              <a:rPr lang="fr"/>
              <a:t>Tension par ports 15,1Watts pour tous les 24 ports du commutateur avec une tension totale délivrée par le switch 49Volts</a:t>
            </a:r>
            <a:endParaRPr/>
          </a:p>
          <a:p>
            <a:pPr marL="0" lvl="0" indent="0" algn="l" rtl="0">
              <a:spcBef>
                <a:spcPts val="0"/>
              </a:spcBef>
              <a:spcAft>
                <a:spcPts val="0"/>
              </a:spcAft>
              <a:buClr>
                <a:schemeClr val="dk1"/>
              </a:buClr>
              <a:buSzPts val="1100"/>
              <a:buFont typeface="Arial"/>
              <a:buNone/>
            </a:pPr>
            <a:r>
              <a:rPr lang="fr" sz="1250" b="1">
                <a:solidFill>
                  <a:srgbClr val="1C408C"/>
                </a:solidFill>
                <a:highlight>
                  <a:srgbClr val="FEFEFE"/>
                </a:highlight>
              </a:rPr>
              <a:t>UNIPRO MGIG1 SERIES : testeur PoE</a:t>
            </a:r>
            <a:endParaRPr sz="1250" b="1">
              <a:solidFill>
                <a:srgbClr val="1C408C"/>
              </a:solidFill>
              <a:highlight>
                <a:srgbClr val="FEFEFE"/>
              </a:highlight>
            </a:endParaRPr>
          </a:p>
          <a:p>
            <a:pPr marL="0" lvl="0" indent="0" algn="l" rtl="0">
              <a:spcBef>
                <a:spcPts val="140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a6a014659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a6a014659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Présentation du réseau de la norme 802.11g qui est le 2.4GHz. Nous avons analysé les mesures avec le logiciel Acrylic Wifi analyser sur notre PC portable et une application d’analyse de wifi gratuite sur téléphone. Les mesures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a6a0146596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a6a014659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a6a0146596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a6a0146596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a6a014659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a6a014659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a6a0146596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2a6a0146596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a:t>Blabla simulation, les éléments principaux du réseau auxquels nous avons eu à faire sont l’AP et le contrôleur. Le contrôleur est un WLC 5500 qui sert à configurer les AP qui y sont connectés. Il sert de DHCP pour distribuer les adresses IP aux appareils connectés à l’AP ainsi qu’au switch. L’adresse ip du contrôleur est </a:t>
            </a:r>
            <a:r>
              <a:rPr lang="fr" b="1">
                <a:solidFill>
                  <a:schemeClr val="dk1"/>
                </a:solidFill>
                <a:latin typeface="Calibri"/>
                <a:ea typeface="Calibri"/>
                <a:cs typeface="Calibri"/>
                <a:sym typeface="Calibri"/>
              </a:rPr>
              <a:t>10.129.10.50</a:t>
            </a:r>
            <a:r>
              <a:rPr lang="fr">
                <a:solidFill>
                  <a:schemeClr val="dk1"/>
                </a:solidFill>
                <a:latin typeface="Calibri"/>
                <a:ea typeface="Calibri"/>
                <a:cs typeface="Calibri"/>
                <a:sym typeface="Calibri"/>
              </a:rPr>
              <a:t>, elle sert en réalité à y accéder pour le configurer. Le point d’accès était un Cisco Aironet 802.11a/b/g Access Point (ref : AIR-AP12421G-E-K9) mais dans Cisco : LAP-PT.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a6a0146596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a6a0146596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a6a014659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a6a0146596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a6a0146596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a6a0146596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1.jp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317800" y="518975"/>
            <a:ext cx="4508400" cy="12801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 u="sng"/>
              <a:t>SAE13:</a:t>
            </a:r>
            <a:r>
              <a:rPr lang="fr"/>
              <a:t> </a:t>
            </a:r>
            <a:endParaRPr/>
          </a:p>
        </p:txBody>
      </p:sp>
      <p:sp>
        <p:nvSpPr>
          <p:cNvPr id="55" name="Google Shape;55;p13"/>
          <p:cNvSpPr txBox="1">
            <a:spLocks noGrp="1"/>
          </p:cNvSpPr>
          <p:nvPr>
            <p:ph type="subTitle" idx="1"/>
          </p:nvPr>
        </p:nvSpPr>
        <p:spPr>
          <a:xfrm>
            <a:off x="398100" y="2182000"/>
            <a:ext cx="4173900" cy="1972500"/>
          </a:xfrm>
          <a:prstGeom prst="rect">
            <a:avLst/>
          </a:prstGeom>
        </p:spPr>
        <p:txBody>
          <a:bodyPr spcFirstLastPara="1" wrap="square" lIns="91425" tIns="91425" rIns="91425" bIns="91425" anchor="t" anchorCtr="0">
            <a:normAutofit/>
          </a:bodyPr>
          <a:lstStyle/>
          <a:p>
            <a:pPr marL="0" lvl="0" indent="0" algn="ctr" rtl="0">
              <a:lnSpc>
                <a:spcPct val="200000"/>
              </a:lnSpc>
              <a:spcBef>
                <a:spcPts val="0"/>
              </a:spcBef>
              <a:spcAft>
                <a:spcPts val="0"/>
              </a:spcAft>
              <a:buNone/>
            </a:pPr>
            <a:r>
              <a:rPr lang="fr"/>
              <a:t>FRITSCHY Mathéo </a:t>
            </a:r>
            <a:endParaRPr/>
          </a:p>
          <a:p>
            <a:pPr marL="0" lvl="0" indent="0" algn="ctr" rtl="0">
              <a:lnSpc>
                <a:spcPct val="200000"/>
              </a:lnSpc>
              <a:spcBef>
                <a:spcPts val="0"/>
              </a:spcBef>
              <a:spcAft>
                <a:spcPts val="0"/>
              </a:spcAft>
              <a:buNone/>
            </a:pPr>
            <a:r>
              <a:rPr lang="fr"/>
              <a:t>BADREDDINE Iheb</a:t>
            </a:r>
            <a:endParaRPr/>
          </a:p>
        </p:txBody>
      </p:sp>
      <p:pic>
        <p:nvPicPr>
          <p:cNvPr id="56" name="Google Shape;56;p13"/>
          <p:cNvPicPr preferRelativeResize="0"/>
          <p:nvPr/>
        </p:nvPicPr>
        <p:blipFill>
          <a:blip r:embed="rId3">
            <a:alphaModFix/>
          </a:blip>
          <a:stretch>
            <a:fillRect/>
          </a:stretch>
        </p:blipFill>
        <p:spPr>
          <a:xfrm>
            <a:off x="0" y="-1"/>
            <a:ext cx="1445500" cy="553325"/>
          </a:xfrm>
          <a:prstGeom prst="rect">
            <a:avLst/>
          </a:prstGeom>
          <a:noFill/>
          <a:ln>
            <a:noFill/>
          </a:ln>
        </p:spPr>
      </p:pic>
      <p:sp>
        <p:nvSpPr>
          <p:cNvPr id="57" name="Google Shape;57;p13"/>
          <p:cNvSpPr txBox="1">
            <a:spLocks noGrp="1"/>
          </p:cNvSpPr>
          <p:nvPr>
            <p:ph type="subTitle" idx="1"/>
          </p:nvPr>
        </p:nvSpPr>
        <p:spPr>
          <a:xfrm>
            <a:off x="4572000" y="2182000"/>
            <a:ext cx="4173900" cy="1972500"/>
          </a:xfrm>
          <a:prstGeom prst="rect">
            <a:avLst/>
          </a:prstGeom>
        </p:spPr>
        <p:txBody>
          <a:bodyPr spcFirstLastPara="1" wrap="square" lIns="91425" tIns="91425" rIns="91425" bIns="91425" anchor="t" anchorCtr="0">
            <a:normAutofit/>
          </a:bodyPr>
          <a:lstStyle/>
          <a:p>
            <a:pPr marL="0" lvl="0" indent="0" algn="ctr" rtl="0">
              <a:lnSpc>
                <a:spcPct val="200000"/>
              </a:lnSpc>
              <a:spcBef>
                <a:spcPts val="0"/>
              </a:spcBef>
              <a:spcAft>
                <a:spcPts val="0"/>
              </a:spcAft>
              <a:buNone/>
            </a:pPr>
            <a:r>
              <a:rPr lang="fr"/>
              <a:t>KARCHER Thibaut </a:t>
            </a:r>
            <a:endParaRPr/>
          </a:p>
          <a:p>
            <a:pPr marL="0" lvl="0" indent="0" algn="ctr" rtl="0">
              <a:lnSpc>
                <a:spcPct val="200000"/>
              </a:lnSpc>
              <a:spcBef>
                <a:spcPts val="0"/>
              </a:spcBef>
              <a:spcAft>
                <a:spcPts val="0"/>
              </a:spcAft>
              <a:buNone/>
            </a:pPr>
            <a:r>
              <a:rPr lang="fr"/>
              <a:t>VISCA Florian</a:t>
            </a:r>
            <a:endParaRPr/>
          </a:p>
        </p:txBody>
      </p:sp>
      <p:sp>
        <p:nvSpPr>
          <p:cNvPr id="58" name="Google Shape;58;p13"/>
          <p:cNvSpPr txBox="1"/>
          <p:nvPr/>
        </p:nvSpPr>
        <p:spPr>
          <a:xfrm>
            <a:off x="2224350" y="4284900"/>
            <a:ext cx="46953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sz="1800">
                <a:solidFill>
                  <a:schemeClr val="dk2"/>
                </a:solidFill>
              </a:rPr>
              <a:t>RT13 GRA 1</a:t>
            </a:r>
            <a:endParaRPr sz="1800">
              <a:solidFill>
                <a:schemeClr val="dk2"/>
              </a:solidFill>
            </a:endParaRPr>
          </a:p>
        </p:txBody>
      </p:sp>
      <p:pic>
        <p:nvPicPr>
          <p:cNvPr id="59" name="Google Shape;59;p13"/>
          <p:cNvPicPr preferRelativeResize="0"/>
          <p:nvPr/>
        </p:nvPicPr>
        <p:blipFill>
          <a:blip r:embed="rId4">
            <a:alphaModFix/>
          </a:blip>
          <a:stretch>
            <a:fillRect/>
          </a:stretch>
        </p:blipFill>
        <p:spPr>
          <a:xfrm rot="1302974">
            <a:off x="6499328" y="979126"/>
            <a:ext cx="872300" cy="944622"/>
          </a:xfrm>
          <a:prstGeom prst="rect">
            <a:avLst/>
          </a:prstGeom>
          <a:noFill/>
          <a:ln>
            <a:noFill/>
          </a:ln>
        </p:spPr>
      </p:pic>
      <p:sp>
        <p:nvSpPr>
          <p:cNvPr id="60" name="Google Shape;60;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fr"/>
              <a:t>Notre câblage</a:t>
            </a:r>
            <a:endParaRPr/>
          </a:p>
        </p:txBody>
      </p:sp>
      <p:sp>
        <p:nvSpPr>
          <p:cNvPr id="66" name="Google Shape;66;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2</a:t>
            </a:fld>
            <a:endParaRPr/>
          </a:p>
        </p:txBody>
      </p:sp>
      <p:pic>
        <p:nvPicPr>
          <p:cNvPr id="67" name="Google Shape;67;p14"/>
          <p:cNvPicPr preferRelativeResize="0"/>
          <p:nvPr/>
        </p:nvPicPr>
        <p:blipFill>
          <a:blip r:embed="rId3">
            <a:alphaModFix/>
          </a:blip>
          <a:stretch>
            <a:fillRect/>
          </a:stretch>
        </p:blipFill>
        <p:spPr>
          <a:xfrm>
            <a:off x="0" y="-1"/>
            <a:ext cx="1445500" cy="553325"/>
          </a:xfrm>
          <a:prstGeom prst="rect">
            <a:avLst/>
          </a:prstGeom>
          <a:noFill/>
          <a:ln>
            <a:noFill/>
          </a:ln>
        </p:spPr>
      </p:pic>
      <p:pic>
        <p:nvPicPr>
          <p:cNvPr id="68" name="Google Shape;68;p14"/>
          <p:cNvPicPr preferRelativeResize="0"/>
          <p:nvPr/>
        </p:nvPicPr>
        <p:blipFill>
          <a:blip r:embed="rId4">
            <a:alphaModFix/>
          </a:blip>
          <a:stretch>
            <a:fillRect/>
          </a:stretch>
        </p:blipFill>
        <p:spPr>
          <a:xfrm>
            <a:off x="493825" y="3568625"/>
            <a:ext cx="1150725" cy="975200"/>
          </a:xfrm>
          <a:prstGeom prst="rect">
            <a:avLst/>
          </a:prstGeom>
          <a:noFill/>
          <a:ln>
            <a:noFill/>
          </a:ln>
        </p:spPr>
      </p:pic>
      <p:pic>
        <p:nvPicPr>
          <p:cNvPr id="69" name="Google Shape;69;p14"/>
          <p:cNvPicPr preferRelativeResize="0"/>
          <p:nvPr/>
        </p:nvPicPr>
        <p:blipFill>
          <a:blip r:embed="rId5">
            <a:alphaModFix/>
          </a:blip>
          <a:stretch>
            <a:fillRect/>
          </a:stretch>
        </p:blipFill>
        <p:spPr>
          <a:xfrm>
            <a:off x="4192363" y="3331087"/>
            <a:ext cx="1928325" cy="1450285"/>
          </a:xfrm>
          <a:prstGeom prst="rect">
            <a:avLst/>
          </a:prstGeom>
          <a:noFill/>
          <a:ln>
            <a:noFill/>
          </a:ln>
        </p:spPr>
      </p:pic>
      <p:pic>
        <p:nvPicPr>
          <p:cNvPr id="70" name="Google Shape;70;p14"/>
          <p:cNvPicPr preferRelativeResize="0"/>
          <p:nvPr/>
        </p:nvPicPr>
        <p:blipFill>
          <a:blip r:embed="rId6">
            <a:alphaModFix/>
          </a:blip>
          <a:stretch>
            <a:fillRect/>
          </a:stretch>
        </p:blipFill>
        <p:spPr>
          <a:xfrm>
            <a:off x="6026825" y="292200"/>
            <a:ext cx="2635754" cy="2938975"/>
          </a:xfrm>
          <a:prstGeom prst="rect">
            <a:avLst/>
          </a:prstGeom>
          <a:noFill/>
          <a:ln>
            <a:noFill/>
          </a:ln>
        </p:spPr>
      </p:pic>
      <p:pic>
        <p:nvPicPr>
          <p:cNvPr id="71" name="Google Shape;71;p14"/>
          <p:cNvPicPr preferRelativeResize="0"/>
          <p:nvPr/>
        </p:nvPicPr>
        <p:blipFill>
          <a:blip r:embed="rId7">
            <a:alphaModFix/>
          </a:blip>
          <a:stretch>
            <a:fillRect/>
          </a:stretch>
        </p:blipFill>
        <p:spPr>
          <a:xfrm>
            <a:off x="6026825" y="2109725"/>
            <a:ext cx="912699" cy="608950"/>
          </a:xfrm>
          <a:prstGeom prst="rect">
            <a:avLst/>
          </a:prstGeom>
          <a:noFill/>
          <a:ln>
            <a:noFill/>
          </a:ln>
        </p:spPr>
      </p:pic>
      <p:pic>
        <p:nvPicPr>
          <p:cNvPr id="72" name="Google Shape;72;p14"/>
          <p:cNvPicPr preferRelativeResize="0"/>
          <p:nvPr/>
        </p:nvPicPr>
        <p:blipFill>
          <a:blip r:embed="rId8">
            <a:alphaModFix/>
          </a:blip>
          <a:stretch>
            <a:fillRect/>
          </a:stretch>
        </p:blipFill>
        <p:spPr>
          <a:xfrm>
            <a:off x="372100" y="1017721"/>
            <a:ext cx="1590351" cy="2120453"/>
          </a:xfrm>
          <a:prstGeom prst="rect">
            <a:avLst/>
          </a:prstGeom>
          <a:noFill/>
          <a:ln>
            <a:noFill/>
          </a:ln>
        </p:spPr>
      </p:pic>
      <p:sp>
        <p:nvSpPr>
          <p:cNvPr id="73" name="Google Shape;73;p14"/>
          <p:cNvSpPr txBox="1"/>
          <p:nvPr/>
        </p:nvSpPr>
        <p:spPr>
          <a:xfrm>
            <a:off x="1794150" y="3686775"/>
            <a:ext cx="24390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1800">
                <a:solidFill>
                  <a:schemeClr val="dk2"/>
                </a:solidFill>
              </a:rPr>
              <a:t>Câbles S/FTP :</a:t>
            </a:r>
            <a:endParaRPr sz="1800">
              <a:solidFill>
                <a:schemeClr val="dk2"/>
              </a:solidFill>
            </a:endParaRPr>
          </a:p>
          <a:p>
            <a:pPr marL="0" lvl="0" indent="0" algn="l" rtl="0">
              <a:spcBef>
                <a:spcPts val="0"/>
              </a:spcBef>
              <a:spcAft>
                <a:spcPts val="0"/>
              </a:spcAft>
              <a:buNone/>
            </a:pPr>
            <a:r>
              <a:rPr lang="fr" sz="1800">
                <a:solidFill>
                  <a:schemeClr val="dk2"/>
                </a:solidFill>
              </a:rPr>
              <a:t>-Catégorie 7 ISO/IEC</a:t>
            </a:r>
            <a:endParaRPr sz="1800">
              <a:solidFill>
                <a:schemeClr val="dk2"/>
              </a:solidFill>
            </a:endParaRPr>
          </a:p>
        </p:txBody>
      </p:sp>
      <p:sp>
        <p:nvSpPr>
          <p:cNvPr id="74" name="Google Shape;74;p14"/>
          <p:cNvSpPr txBox="1"/>
          <p:nvPr/>
        </p:nvSpPr>
        <p:spPr>
          <a:xfrm>
            <a:off x="0" y="4543825"/>
            <a:ext cx="24390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sz="1800">
                <a:solidFill>
                  <a:schemeClr val="dk2"/>
                </a:solidFill>
              </a:rPr>
              <a:t>T568B</a:t>
            </a:r>
            <a:endParaRPr sz="1800">
              <a:solidFill>
                <a:schemeClr val="dk2"/>
              </a:solidFill>
            </a:endParaRPr>
          </a:p>
        </p:txBody>
      </p:sp>
      <p:pic>
        <p:nvPicPr>
          <p:cNvPr id="75" name="Google Shape;75;p14"/>
          <p:cNvPicPr preferRelativeResize="0"/>
          <p:nvPr/>
        </p:nvPicPr>
        <p:blipFill>
          <a:blip r:embed="rId9">
            <a:alphaModFix/>
          </a:blip>
          <a:stretch>
            <a:fillRect/>
          </a:stretch>
        </p:blipFill>
        <p:spPr>
          <a:xfrm>
            <a:off x="2628400" y="630250"/>
            <a:ext cx="3115668" cy="2186025"/>
          </a:xfrm>
          <a:prstGeom prst="rect">
            <a:avLst/>
          </a:prstGeom>
          <a:noFill/>
          <a:ln>
            <a:noFill/>
          </a:ln>
        </p:spPr>
      </p:pic>
      <p:sp>
        <p:nvSpPr>
          <p:cNvPr id="2" name="ZoneTexte 1">
            <a:extLst>
              <a:ext uri="{FF2B5EF4-FFF2-40B4-BE49-F238E27FC236}">
                <a16:creationId xmlns:a16="http://schemas.microsoft.com/office/drawing/2014/main" id="{B77A262A-E98B-933E-9869-A721F05322D7}"/>
              </a:ext>
            </a:extLst>
          </p:cNvPr>
          <p:cNvSpPr txBox="1"/>
          <p:nvPr/>
        </p:nvSpPr>
        <p:spPr>
          <a:xfrm>
            <a:off x="6416538" y="4432025"/>
            <a:ext cx="2415762" cy="615553"/>
          </a:xfrm>
          <a:prstGeom prst="rect">
            <a:avLst/>
          </a:prstGeom>
          <a:noFill/>
        </p:spPr>
        <p:txBody>
          <a:bodyPr wrap="square" rtlCol="0">
            <a:spAutoFit/>
          </a:bodyPr>
          <a:lstStyle/>
          <a:p>
            <a:r>
              <a:rPr lang="fr-FR" sz="1000" dirty="0" err="1"/>
              <a:t>Badreddine</a:t>
            </a:r>
            <a:r>
              <a:rPr lang="fr-FR" sz="1000" dirty="0"/>
              <a:t> </a:t>
            </a:r>
            <a:r>
              <a:rPr lang="fr-FR" sz="1000" dirty="0" err="1"/>
              <a:t>Iheb</a:t>
            </a:r>
            <a:r>
              <a:rPr lang="fr-FR" sz="1000" dirty="0"/>
              <a:t> / </a:t>
            </a:r>
            <a:r>
              <a:rPr lang="fr-FR" sz="1000" dirty="0" err="1"/>
              <a:t>Matheo</a:t>
            </a:r>
            <a:r>
              <a:rPr lang="fr-FR" sz="1000" dirty="0"/>
              <a:t> </a:t>
            </a:r>
            <a:r>
              <a:rPr lang="fr-FR" sz="1000" dirty="0" err="1"/>
              <a:t>Fritschy</a:t>
            </a:r>
            <a:r>
              <a:rPr lang="fr-FR" sz="1000" dirty="0"/>
              <a:t> / </a:t>
            </a:r>
            <a:r>
              <a:rPr lang="fr-FR" sz="1000" dirty="0" err="1"/>
              <a:t>Visca</a:t>
            </a:r>
            <a:r>
              <a:rPr lang="fr-FR" sz="1000" dirty="0"/>
              <a:t> Florian/Karcher Thibaut</a:t>
            </a:r>
          </a:p>
          <a:p>
            <a:endParaRPr lang="fr-F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5"/>
          <p:cNvSpPr txBox="1">
            <a:spLocks noGrp="1"/>
          </p:cNvSpPr>
          <p:nvPr>
            <p:ph type="title"/>
          </p:nvPr>
        </p:nvSpPr>
        <p:spPr>
          <a:xfrm>
            <a:off x="311700" y="445025"/>
            <a:ext cx="8520600" cy="8115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fr" sz="2750"/>
              <a:t>Nos mesures PoE du </a:t>
            </a:r>
            <a:r>
              <a:rPr lang="fr" sz="2750">
                <a:highlight>
                  <a:srgbClr val="FFFFFF"/>
                </a:highlight>
              </a:rPr>
              <a:t>Commutateur Cisco Catalyst 2960-Plus 24PC-L</a:t>
            </a:r>
            <a:endParaRPr sz="2750">
              <a:highlight>
                <a:srgbClr val="FFFFFF"/>
              </a:highlight>
            </a:endParaRPr>
          </a:p>
          <a:p>
            <a:pPr marL="0" lvl="0" indent="0" algn="l" rtl="0">
              <a:spcBef>
                <a:spcPts val="0"/>
              </a:spcBef>
              <a:spcAft>
                <a:spcPts val="0"/>
              </a:spcAft>
              <a:buNone/>
            </a:pPr>
            <a:endParaRPr/>
          </a:p>
        </p:txBody>
      </p:sp>
      <p:sp>
        <p:nvSpPr>
          <p:cNvPr id="81" name="Google Shape;8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3</a:t>
            </a:fld>
            <a:endParaRPr/>
          </a:p>
        </p:txBody>
      </p:sp>
      <p:pic>
        <p:nvPicPr>
          <p:cNvPr id="82" name="Google Shape;82;p15"/>
          <p:cNvPicPr preferRelativeResize="0"/>
          <p:nvPr/>
        </p:nvPicPr>
        <p:blipFill>
          <a:blip r:embed="rId3">
            <a:alphaModFix/>
          </a:blip>
          <a:stretch>
            <a:fillRect/>
          </a:stretch>
        </p:blipFill>
        <p:spPr>
          <a:xfrm>
            <a:off x="0" y="-1"/>
            <a:ext cx="1445500" cy="553325"/>
          </a:xfrm>
          <a:prstGeom prst="rect">
            <a:avLst/>
          </a:prstGeom>
          <a:noFill/>
          <a:ln>
            <a:noFill/>
          </a:ln>
        </p:spPr>
      </p:pic>
      <p:pic>
        <p:nvPicPr>
          <p:cNvPr id="83" name="Google Shape;83;p15"/>
          <p:cNvPicPr preferRelativeResize="0"/>
          <p:nvPr/>
        </p:nvPicPr>
        <p:blipFill>
          <a:blip r:embed="rId4">
            <a:alphaModFix/>
          </a:blip>
          <a:stretch>
            <a:fillRect/>
          </a:stretch>
        </p:blipFill>
        <p:spPr>
          <a:xfrm>
            <a:off x="199250" y="1461688"/>
            <a:ext cx="4705874" cy="2220125"/>
          </a:xfrm>
          <a:prstGeom prst="rect">
            <a:avLst/>
          </a:prstGeom>
          <a:noFill/>
          <a:ln>
            <a:noFill/>
          </a:ln>
        </p:spPr>
      </p:pic>
      <p:pic>
        <p:nvPicPr>
          <p:cNvPr id="84" name="Google Shape;84;p15"/>
          <p:cNvPicPr preferRelativeResize="0"/>
          <p:nvPr/>
        </p:nvPicPr>
        <p:blipFill>
          <a:blip r:embed="rId5">
            <a:alphaModFix/>
          </a:blip>
          <a:stretch>
            <a:fillRect/>
          </a:stretch>
        </p:blipFill>
        <p:spPr>
          <a:xfrm>
            <a:off x="2220236" y="3784288"/>
            <a:ext cx="5314001" cy="1171175"/>
          </a:xfrm>
          <a:prstGeom prst="rect">
            <a:avLst/>
          </a:prstGeom>
          <a:noFill/>
          <a:ln>
            <a:noFill/>
          </a:ln>
        </p:spPr>
      </p:pic>
      <p:pic>
        <p:nvPicPr>
          <p:cNvPr id="85" name="Google Shape;85;p15"/>
          <p:cNvPicPr preferRelativeResize="0"/>
          <p:nvPr/>
        </p:nvPicPr>
        <p:blipFill>
          <a:blip r:embed="rId6">
            <a:alphaModFix/>
          </a:blip>
          <a:stretch>
            <a:fillRect/>
          </a:stretch>
        </p:blipFill>
        <p:spPr>
          <a:xfrm>
            <a:off x="6596025" y="1144825"/>
            <a:ext cx="1876425" cy="2220125"/>
          </a:xfrm>
          <a:prstGeom prst="rect">
            <a:avLst/>
          </a:prstGeom>
          <a:noFill/>
          <a:ln>
            <a:noFill/>
          </a:ln>
        </p:spPr>
      </p:pic>
      <p:sp>
        <p:nvSpPr>
          <p:cNvPr id="2" name="ZoneTexte 1">
            <a:extLst>
              <a:ext uri="{FF2B5EF4-FFF2-40B4-BE49-F238E27FC236}">
                <a16:creationId xmlns:a16="http://schemas.microsoft.com/office/drawing/2014/main" id="{6A8A2A42-CDAF-A378-B6FD-22B5352538E9}"/>
              </a:ext>
            </a:extLst>
          </p:cNvPr>
          <p:cNvSpPr txBox="1"/>
          <p:nvPr/>
        </p:nvSpPr>
        <p:spPr>
          <a:xfrm>
            <a:off x="0" y="4527947"/>
            <a:ext cx="2415762" cy="615553"/>
          </a:xfrm>
          <a:prstGeom prst="rect">
            <a:avLst/>
          </a:prstGeom>
          <a:noFill/>
        </p:spPr>
        <p:txBody>
          <a:bodyPr wrap="square" rtlCol="0">
            <a:spAutoFit/>
          </a:bodyPr>
          <a:lstStyle/>
          <a:p>
            <a:r>
              <a:rPr lang="fr-FR" sz="1000" dirty="0" err="1"/>
              <a:t>Badreddine</a:t>
            </a:r>
            <a:r>
              <a:rPr lang="fr-FR" sz="1000" dirty="0"/>
              <a:t> </a:t>
            </a:r>
            <a:r>
              <a:rPr lang="fr-FR" sz="1000" dirty="0" err="1"/>
              <a:t>Iheb</a:t>
            </a:r>
            <a:r>
              <a:rPr lang="fr-FR" sz="1000" dirty="0"/>
              <a:t> / </a:t>
            </a:r>
            <a:r>
              <a:rPr lang="fr-FR" sz="1000" dirty="0" err="1"/>
              <a:t>Matheo</a:t>
            </a:r>
            <a:r>
              <a:rPr lang="fr-FR" sz="1000" dirty="0"/>
              <a:t> </a:t>
            </a:r>
            <a:r>
              <a:rPr lang="fr-FR" sz="1000" dirty="0" err="1"/>
              <a:t>Fritschy</a:t>
            </a:r>
            <a:r>
              <a:rPr lang="fr-FR" sz="1000" dirty="0"/>
              <a:t> / </a:t>
            </a:r>
            <a:r>
              <a:rPr lang="fr-FR" sz="1000" dirty="0" err="1"/>
              <a:t>Visca</a:t>
            </a:r>
            <a:r>
              <a:rPr lang="fr-FR" sz="1000" dirty="0"/>
              <a:t> Florian/Karcher Thibaut</a:t>
            </a:r>
          </a:p>
          <a:p>
            <a:endParaRPr lang="fr-F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Mesures du réseau GRA_802.11g</a:t>
            </a:r>
            <a:endParaRPr/>
          </a:p>
        </p:txBody>
      </p:sp>
      <p:sp>
        <p:nvSpPr>
          <p:cNvPr id="91" name="Google Shape;91;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4</a:t>
            </a:fld>
            <a:endParaRPr/>
          </a:p>
        </p:txBody>
      </p:sp>
      <p:pic>
        <p:nvPicPr>
          <p:cNvPr id="92" name="Google Shape;92;p16"/>
          <p:cNvPicPr preferRelativeResize="0"/>
          <p:nvPr/>
        </p:nvPicPr>
        <p:blipFill>
          <a:blip r:embed="rId3">
            <a:alphaModFix/>
          </a:blip>
          <a:stretch>
            <a:fillRect/>
          </a:stretch>
        </p:blipFill>
        <p:spPr>
          <a:xfrm>
            <a:off x="0" y="-1"/>
            <a:ext cx="1445500" cy="553325"/>
          </a:xfrm>
          <a:prstGeom prst="rect">
            <a:avLst/>
          </a:prstGeom>
          <a:noFill/>
          <a:ln>
            <a:noFill/>
          </a:ln>
        </p:spPr>
      </p:pic>
      <p:pic>
        <p:nvPicPr>
          <p:cNvPr id="93" name="Google Shape;93;p16" title="Perte en dBm à travers différents éléments"/>
          <p:cNvPicPr preferRelativeResize="0"/>
          <p:nvPr/>
        </p:nvPicPr>
        <p:blipFill>
          <a:blip r:embed="rId4">
            <a:alphaModFix/>
          </a:blip>
          <a:stretch>
            <a:fillRect/>
          </a:stretch>
        </p:blipFill>
        <p:spPr>
          <a:xfrm>
            <a:off x="5523925" y="519500"/>
            <a:ext cx="3318993" cy="2052250"/>
          </a:xfrm>
          <a:prstGeom prst="rect">
            <a:avLst/>
          </a:prstGeom>
          <a:noFill/>
          <a:ln>
            <a:noFill/>
          </a:ln>
        </p:spPr>
      </p:pic>
      <p:pic>
        <p:nvPicPr>
          <p:cNvPr id="94" name="Google Shape;94;p16" title="Mesures des réseaux Wifi 802.11g"/>
          <p:cNvPicPr preferRelativeResize="0"/>
          <p:nvPr/>
        </p:nvPicPr>
        <p:blipFill>
          <a:blip r:embed="rId5">
            <a:alphaModFix/>
          </a:blip>
          <a:stretch>
            <a:fillRect/>
          </a:stretch>
        </p:blipFill>
        <p:spPr>
          <a:xfrm>
            <a:off x="524125" y="1529725"/>
            <a:ext cx="4255299" cy="2631175"/>
          </a:xfrm>
          <a:prstGeom prst="rect">
            <a:avLst/>
          </a:prstGeom>
          <a:noFill/>
          <a:ln>
            <a:noFill/>
          </a:ln>
        </p:spPr>
      </p:pic>
      <p:pic>
        <p:nvPicPr>
          <p:cNvPr id="95" name="Google Shape;95;p16"/>
          <p:cNvPicPr preferRelativeResize="0"/>
          <p:nvPr/>
        </p:nvPicPr>
        <p:blipFill>
          <a:blip r:embed="rId6">
            <a:alphaModFix/>
          </a:blip>
          <a:stretch>
            <a:fillRect/>
          </a:stretch>
        </p:blipFill>
        <p:spPr>
          <a:xfrm>
            <a:off x="5997475" y="3061200"/>
            <a:ext cx="2371899" cy="912275"/>
          </a:xfrm>
          <a:prstGeom prst="rect">
            <a:avLst/>
          </a:prstGeom>
          <a:noFill/>
          <a:ln>
            <a:noFill/>
          </a:ln>
        </p:spPr>
      </p:pic>
      <p:sp>
        <p:nvSpPr>
          <p:cNvPr id="2" name="ZoneTexte 1">
            <a:extLst>
              <a:ext uri="{FF2B5EF4-FFF2-40B4-BE49-F238E27FC236}">
                <a16:creationId xmlns:a16="http://schemas.microsoft.com/office/drawing/2014/main" id="{C6DA4695-D889-6C9F-2AD3-494F43DD1B88}"/>
              </a:ext>
            </a:extLst>
          </p:cNvPr>
          <p:cNvSpPr txBox="1"/>
          <p:nvPr/>
        </p:nvSpPr>
        <p:spPr>
          <a:xfrm>
            <a:off x="311700" y="4527947"/>
            <a:ext cx="2415762" cy="615553"/>
          </a:xfrm>
          <a:prstGeom prst="rect">
            <a:avLst/>
          </a:prstGeom>
          <a:noFill/>
        </p:spPr>
        <p:txBody>
          <a:bodyPr wrap="square" rtlCol="0">
            <a:spAutoFit/>
          </a:bodyPr>
          <a:lstStyle/>
          <a:p>
            <a:r>
              <a:rPr lang="fr-FR" sz="1000" dirty="0" err="1"/>
              <a:t>Badreddine</a:t>
            </a:r>
            <a:r>
              <a:rPr lang="fr-FR" sz="1000" dirty="0"/>
              <a:t> </a:t>
            </a:r>
            <a:r>
              <a:rPr lang="fr-FR" sz="1000" dirty="0" err="1"/>
              <a:t>Iheb</a:t>
            </a:r>
            <a:r>
              <a:rPr lang="fr-FR" sz="1000" dirty="0"/>
              <a:t> / </a:t>
            </a:r>
            <a:r>
              <a:rPr lang="fr-FR" sz="1000" dirty="0" err="1"/>
              <a:t>Matheo</a:t>
            </a:r>
            <a:r>
              <a:rPr lang="fr-FR" sz="1000" dirty="0"/>
              <a:t> </a:t>
            </a:r>
            <a:r>
              <a:rPr lang="fr-FR" sz="1000" dirty="0" err="1"/>
              <a:t>Fritschy</a:t>
            </a:r>
            <a:r>
              <a:rPr lang="fr-FR" sz="1000" dirty="0"/>
              <a:t> / </a:t>
            </a:r>
            <a:r>
              <a:rPr lang="fr-FR" sz="1000" dirty="0" err="1"/>
              <a:t>Visca</a:t>
            </a:r>
            <a:r>
              <a:rPr lang="fr-FR" sz="1000" dirty="0"/>
              <a:t> Florian/Karcher Thibaut</a:t>
            </a:r>
          </a:p>
          <a:p>
            <a:endParaRPr lang="fr-F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fr"/>
              <a:t>Mesures du réseau GRA_802.11a</a:t>
            </a:r>
            <a:endParaRPr/>
          </a:p>
        </p:txBody>
      </p:sp>
      <p:sp>
        <p:nvSpPr>
          <p:cNvPr id="101" name="Google Shape;10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5</a:t>
            </a:fld>
            <a:endParaRPr/>
          </a:p>
        </p:txBody>
      </p:sp>
      <p:pic>
        <p:nvPicPr>
          <p:cNvPr id="102" name="Google Shape;102;p17"/>
          <p:cNvPicPr preferRelativeResize="0"/>
          <p:nvPr/>
        </p:nvPicPr>
        <p:blipFill>
          <a:blip r:embed="rId3">
            <a:alphaModFix/>
          </a:blip>
          <a:stretch>
            <a:fillRect/>
          </a:stretch>
        </p:blipFill>
        <p:spPr>
          <a:xfrm>
            <a:off x="0" y="-1"/>
            <a:ext cx="1445500" cy="553325"/>
          </a:xfrm>
          <a:prstGeom prst="rect">
            <a:avLst/>
          </a:prstGeom>
          <a:noFill/>
          <a:ln>
            <a:noFill/>
          </a:ln>
        </p:spPr>
      </p:pic>
      <p:pic>
        <p:nvPicPr>
          <p:cNvPr id="103" name="Google Shape;103;p17" title="Perte en dBm à travers différents éléments"/>
          <p:cNvPicPr preferRelativeResize="0"/>
          <p:nvPr/>
        </p:nvPicPr>
        <p:blipFill>
          <a:blip r:embed="rId4">
            <a:alphaModFix/>
          </a:blip>
          <a:stretch>
            <a:fillRect/>
          </a:stretch>
        </p:blipFill>
        <p:spPr>
          <a:xfrm>
            <a:off x="5551275" y="553321"/>
            <a:ext cx="3281025" cy="2028775"/>
          </a:xfrm>
          <a:prstGeom prst="rect">
            <a:avLst/>
          </a:prstGeom>
          <a:noFill/>
          <a:ln>
            <a:noFill/>
          </a:ln>
        </p:spPr>
      </p:pic>
      <p:pic>
        <p:nvPicPr>
          <p:cNvPr id="104" name="Google Shape;104;p17" title="Mesures des réseaux Wifi 802.11a"/>
          <p:cNvPicPr preferRelativeResize="0"/>
          <p:nvPr/>
        </p:nvPicPr>
        <p:blipFill>
          <a:blip r:embed="rId5">
            <a:alphaModFix/>
          </a:blip>
          <a:stretch>
            <a:fillRect/>
          </a:stretch>
        </p:blipFill>
        <p:spPr>
          <a:xfrm>
            <a:off x="486425" y="1529750"/>
            <a:ext cx="4284375" cy="2649176"/>
          </a:xfrm>
          <a:prstGeom prst="rect">
            <a:avLst/>
          </a:prstGeom>
          <a:noFill/>
          <a:ln>
            <a:noFill/>
          </a:ln>
        </p:spPr>
      </p:pic>
      <p:pic>
        <p:nvPicPr>
          <p:cNvPr id="105" name="Google Shape;105;p17"/>
          <p:cNvPicPr preferRelativeResize="0"/>
          <p:nvPr/>
        </p:nvPicPr>
        <p:blipFill>
          <a:blip r:embed="rId6">
            <a:alphaModFix/>
          </a:blip>
          <a:stretch>
            <a:fillRect/>
          </a:stretch>
        </p:blipFill>
        <p:spPr>
          <a:xfrm>
            <a:off x="5997475" y="3061200"/>
            <a:ext cx="2371899" cy="912275"/>
          </a:xfrm>
          <a:prstGeom prst="rect">
            <a:avLst/>
          </a:prstGeom>
          <a:noFill/>
          <a:ln>
            <a:noFill/>
          </a:ln>
        </p:spPr>
      </p:pic>
      <p:sp>
        <p:nvSpPr>
          <p:cNvPr id="2" name="ZoneTexte 1">
            <a:extLst>
              <a:ext uri="{FF2B5EF4-FFF2-40B4-BE49-F238E27FC236}">
                <a16:creationId xmlns:a16="http://schemas.microsoft.com/office/drawing/2014/main" id="{122A8F24-8B89-D398-D059-B57768DE7A4E}"/>
              </a:ext>
            </a:extLst>
          </p:cNvPr>
          <p:cNvSpPr txBox="1"/>
          <p:nvPr/>
        </p:nvSpPr>
        <p:spPr>
          <a:xfrm>
            <a:off x="311700" y="4552240"/>
            <a:ext cx="2415762" cy="615553"/>
          </a:xfrm>
          <a:prstGeom prst="rect">
            <a:avLst/>
          </a:prstGeom>
          <a:noFill/>
        </p:spPr>
        <p:txBody>
          <a:bodyPr wrap="square" rtlCol="0">
            <a:spAutoFit/>
          </a:bodyPr>
          <a:lstStyle/>
          <a:p>
            <a:r>
              <a:rPr lang="fr-FR" sz="1000" dirty="0" err="1"/>
              <a:t>Badreddine</a:t>
            </a:r>
            <a:r>
              <a:rPr lang="fr-FR" sz="1000" dirty="0"/>
              <a:t> </a:t>
            </a:r>
            <a:r>
              <a:rPr lang="fr-FR" sz="1000" dirty="0" err="1"/>
              <a:t>Iheb</a:t>
            </a:r>
            <a:r>
              <a:rPr lang="fr-FR" sz="1000" dirty="0"/>
              <a:t> / </a:t>
            </a:r>
            <a:r>
              <a:rPr lang="fr-FR" sz="1000" dirty="0" err="1"/>
              <a:t>Matheo</a:t>
            </a:r>
            <a:r>
              <a:rPr lang="fr-FR" sz="1000" dirty="0"/>
              <a:t> </a:t>
            </a:r>
            <a:r>
              <a:rPr lang="fr-FR" sz="1000" dirty="0" err="1"/>
              <a:t>Fritschy</a:t>
            </a:r>
            <a:r>
              <a:rPr lang="fr-FR" sz="1000" dirty="0"/>
              <a:t> / </a:t>
            </a:r>
            <a:r>
              <a:rPr lang="fr-FR" sz="1000" dirty="0" err="1"/>
              <a:t>Visca</a:t>
            </a:r>
            <a:r>
              <a:rPr lang="fr-FR" sz="1000" dirty="0"/>
              <a:t> Florian/Karcher Thibaut</a:t>
            </a:r>
          </a:p>
          <a:p>
            <a:endParaRPr lang="fr-F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txBox="1">
            <a:spLocks noGrp="1"/>
          </p:cNvSpPr>
          <p:nvPr>
            <p:ph type="title"/>
          </p:nvPr>
        </p:nvSpPr>
        <p:spPr>
          <a:xfrm>
            <a:off x="311700" y="4388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Heatmap du réseau GR.A</a:t>
            </a:r>
            <a:endParaRPr/>
          </a:p>
        </p:txBody>
      </p:sp>
      <p:sp>
        <p:nvSpPr>
          <p:cNvPr id="111" name="Google Shape;111;p18"/>
          <p:cNvSpPr txBox="1">
            <a:spLocks noGrp="1"/>
          </p:cNvSpPr>
          <p:nvPr>
            <p:ph type="body" idx="1"/>
          </p:nvPr>
        </p:nvSpPr>
        <p:spPr>
          <a:xfrm>
            <a:off x="4328675" y="782900"/>
            <a:ext cx="1418700" cy="15102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Clr>
                <a:schemeClr val="dk1"/>
              </a:buClr>
              <a:buSzPts val="1100"/>
              <a:buFont typeface="Arial"/>
              <a:buNone/>
            </a:pPr>
            <a:endParaRPr sz="1900"/>
          </a:p>
          <a:p>
            <a:pPr marL="0" lvl="0" indent="0" algn="l" rtl="0">
              <a:spcBef>
                <a:spcPts val="1200"/>
              </a:spcBef>
              <a:spcAft>
                <a:spcPts val="0"/>
              </a:spcAft>
              <a:buClr>
                <a:schemeClr val="dk1"/>
              </a:buClr>
              <a:buSzPts val="1100"/>
              <a:buFont typeface="Arial"/>
              <a:buNone/>
            </a:pPr>
            <a:endParaRPr sz="1900"/>
          </a:p>
          <a:p>
            <a:pPr marL="0" lvl="0" indent="0" algn="l" rtl="0">
              <a:spcBef>
                <a:spcPts val="1200"/>
              </a:spcBef>
              <a:spcAft>
                <a:spcPts val="1200"/>
              </a:spcAft>
              <a:buNone/>
            </a:pPr>
            <a:r>
              <a:rPr lang="fr" sz="2100" b="1"/>
              <a:t>2.4 GHz</a:t>
            </a:r>
            <a:endParaRPr sz="2100" b="1"/>
          </a:p>
        </p:txBody>
      </p:sp>
      <p:sp>
        <p:nvSpPr>
          <p:cNvPr id="112" name="Google Shape;11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6</a:t>
            </a:fld>
            <a:endParaRPr/>
          </a:p>
        </p:txBody>
      </p:sp>
      <p:pic>
        <p:nvPicPr>
          <p:cNvPr id="113" name="Google Shape;113;p18"/>
          <p:cNvPicPr preferRelativeResize="0"/>
          <p:nvPr/>
        </p:nvPicPr>
        <p:blipFill>
          <a:blip r:embed="rId3">
            <a:alphaModFix/>
          </a:blip>
          <a:stretch>
            <a:fillRect/>
          </a:stretch>
        </p:blipFill>
        <p:spPr>
          <a:xfrm>
            <a:off x="0" y="-1"/>
            <a:ext cx="1445500" cy="553325"/>
          </a:xfrm>
          <a:prstGeom prst="rect">
            <a:avLst/>
          </a:prstGeom>
          <a:noFill/>
          <a:ln>
            <a:noFill/>
          </a:ln>
        </p:spPr>
      </p:pic>
      <p:pic>
        <p:nvPicPr>
          <p:cNvPr id="114" name="Google Shape;114;p18"/>
          <p:cNvPicPr preferRelativeResize="0"/>
          <p:nvPr/>
        </p:nvPicPr>
        <p:blipFill>
          <a:blip r:embed="rId4">
            <a:alphaModFix/>
          </a:blip>
          <a:stretch>
            <a:fillRect/>
          </a:stretch>
        </p:blipFill>
        <p:spPr>
          <a:xfrm>
            <a:off x="509446" y="1200546"/>
            <a:ext cx="3594150" cy="1684150"/>
          </a:xfrm>
          <a:prstGeom prst="rect">
            <a:avLst/>
          </a:prstGeom>
          <a:noFill/>
          <a:ln>
            <a:noFill/>
          </a:ln>
        </p:spPr>
      </p:pic>
      <p:pic>
        <p:nvPicPr>
          <p:cNvPr id="115" name="Google Shape;115;p18"/>
          <p:cNvPicPr preferRelativeResize="0"/>
          <p:nvPr/>
        </p:nvPicPr>
        <p:blipFill>
          <a:blip r:embed="rId5">
            <a:alphaModFix/>
          </a:blip>
          <a:stretch>
            <a:fillRect/>
          </a:stretch>
        </p:blipFill>
        <p:spPr>
          <a:xfrm>
            <a:off x="5972450" y="997937"/>
            <a:ext cx="2637900" cy="1606188"/>
          </a:xfrm>
          <a:prstGeom prst="rect">
            <a:avLst/>
          </a:prstGeom>
          <a:noFill/>
          <a:ln>
            <a:noFill/>
          </a:ln>
        </p:spPr>
      </p:pic>
      <p:pic>
        <p:nvPicPr>
          <p:cNvPr id="116" name="Google Shape;116;p18"/>
          <p:cNvPicPr preferRelativeResize="0"/>
          <p:nvPr/>
        </p:nvPicPr>
        <p:blipFill>
          <a:blip r:embed="rId6">
            <a:alphaModFix/>
          </a:blip>
          <a:stretch>
            <a:fillRect/>
          </a:stretch>
        </p:blipFill>
        <p:spPr>
          <a:xfrm>
            <a:off x="509450" y="3058705"/>
            <a:ext cx="3594150" cy="1510145"/>
          </a:xfrm>
          <a:prstGeom prst="rect">
            <a:avLst/>
          </a:prstGeom>
          <a:noFill/>
          <a:ln>
            <a:noFill/>
          </a:ln>
        </p:spPr>
      </p:pic>
      <p:pic>
        <p:nvPicPr>
          <p:cNvPr id="117" name="Google Shape;117;p18"/>
          <p:cNvPicPr preferRelativeResize="0"/>
          <p:nvPr/>
        </p:nvPicPr>
        <p:blipFill>
          <a:blip r:embed="rId7">
            <a:alphaModFix/>
          </a:blip>
          <a:stretch>
            <a:fillRect/>
          </a:stretch>
        </p:blipFill>
        <p:spPr>
          <a:xfrm>
            <a:off x="5834550" y="2971254"/>
            <a:ext cx="2637900" cy="1789071"/>
          </a:xfrm>
          <a:prstGeom prst="rect">
            <a:avLst/>
          </a:prstGeom>
          <a:noFill/>
          <a:ln>
            <a:noFill/>
          </a:ln>
        </p:spPr>
      </p:pic>
      <p:sp>
        <p:nvSpPr>
          <p:cNvPr id="118" name="Google Shape;118;p18"/>
          <p:cNvSpPr txBox="1"/>
          <p:nvPr/>
        </p:nvSpPr>
        <p:spPr>
          <a:xfrm>
            <a:off x="4328675" y="3310488"/>
            <a:ext cx="1122600" cy="1110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 sz="2100" b="1">
                <a:solidFill>
                  <a:schemeClr val="dk2"/>
                </a:solidFill>
              </a:rPr>
              <a:t>5 GHz</a:t>
            </a:r>
            <a:endParaRPr sz="2100" b="1">
              <a:solidFill>
                <a:schemeClr val="dk2"/>
              </a:solidFill>
            </a:endParaRPr>
          </a:p>
        </p:txBody>
      </p:sp>
      <p:sp>
        <p:nvSpPr>
          <p:cNvPr id="2" name="ZoneTexte 1">
            <a:extLst>
              <a:ext uri="{FF2B5EF4-FFF2-40B4-BE49-F238E27FC236}">
                <a16:creationId xmlns:a16="http://schemas.microsoft.com/office/drawing/2014/main" id="{30D2E6E0-1EB0-43D9-B3B1-CFC87C222174}"/>
              </a:ext>
            </a:extLst>
          </p:cNvPr>
          <p:cNvSpPr txBox="1"/>
          <p:nvPr/>
        </p:nvSpPr>
        <p:spPr>
          <a:xfrm>
            <a:off x="311700" y="4663217"/>
            <a:ext cx="2415762" cy="615553"/>
          </a:xfrm>
          <a:prstGeom prst="rect">
            <a:avLst/>
          </a:prstGeom>
          <a:noFill/>
        </p:spPr>
        <p:txBody>
          <a:bodyPr wrap="square" rtlCol="0">
            <a:spAutoFit/>
          </a:bodyPr>
          <a:lstStyle/>
          <a:p>
            <a:r>
              <a:rPr lang="fr-FR" sz="1000" dirty="0" err="1"/>
              <a:t>Badreddine</a:t>
            </a:r>
            <a:r>
              <a:rPr lang="fr-FR" sz="1000" dirty="0"/>
              <a:t> </a:t>
            </a:r>
            <a:r>
              <a:rPr lang="fr-FR" sz="1000" dirty="0" err="1"/>
              <a:t>Iheb</a:t>
            </a:r>
            <a:r>
              <a:rPr lang="fr-FR" sz="1000" dirty="0"/>
              <a:t> / </a:t>
            </a:r>
            <a:r>
              <a:rPr lang="fr-FR" sz="1000" dirty="0" err="1"/>
              <a:t>Matheo</a:t>
            </a:r>
            <a:r>
              <a:rPr lang="fr-FR" sz="1000" dirty="0"/>
              <a:t> </a:t>
            </a:r>
            <a:r>
              <a:rPr lang="fr-FR" sz="1000" dirty="0" err="1"/>
              <a:t>Fritschy</a:t>
            </a:r>
            <a:r>
              <a:rPr lang="fr-FR" sz="1000" dirty="0"/>
              <a:t> / </a:t>
            </a:r>
            <a:r>
              <a:rPr lang="fr-FR" sz="1000" dirty="0" err="1"/>
              <a:t>Visca</a:t>
            </a:r>
            <a:r>
              <a:rPr lang="fr-FR" sz="1000" dirty="0"/>
              <a:t> Florian/Karcher Thibaut</a:t>
            </a:r>
          </a:p>
          <a:p>
            <a:endParaRPr lang="fr-F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Débits descendants</a:t>
            </a:r>
            <a:endParaRPr/>
          </a:p>
        </p:txBody>
      </p:sp>
      <p:sp>
        <p:nvSpPr>
          <p:cNvPr id="124" name="Google Shape;12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7</a:t>
            </a:fld>
            <a:endParaRPr/>
          </a:p>
        </p:txBody>
      </p:sp>
      <p:pic>
        <p:nvPicPr>
          <p:cNvPr id="125" name="Google Shape;125;p19"/>
          <p:cNvPicPr preferRelativeResize="0"/>
          <p:nvPr/>
        </p:nvPicPr>
        <p:blipFill>
          <a:blip r:embed="rId3">
            <a:alphaModFix/>
          </a:blip>
          <a:stretch>
            <a:fillRect/>
          </a:stretch>
        </p:blipFill>
        <p:spPr>
          <a:xfrm>
            <a:off x="0" y="-1"/>
            <a:ext cx="1445500" cy="553325"/>
          </a:xfrm>
          <a:prstGeom prst="rect">
            <a:avLst/>
          </a:prstGeom>
          <a:noFill/>
          <a:ln>
            <a:noFill/>
          </a:ln>
        </p:spPr>
      </p:pic>
      <p:pic>
        <p:nvPicPr>
          <p:cNvPr id="126" name="Google Shape;126;p19"/>
          <p:cNvPicPr preferRelativeResize="0"/>
          <p:nvPr/>
        </p:nvPicPr>
        <p:blipFill>
          <a:blip r:embed="rId4">
            <a:alphaModFix/>
          </a:blip>
          <a:stretch>
            <a:fillRect/>
          </a:stretch>
        </p:blipFill>
        <p:spPr>
          <a:xfrm>
            <a:off x="311700" y="1664250"/>
            <a:ext cx="4134375" cy="2322700"/>
          </a:xfrm>
          <a:prstGeom prst="rect">
            <a:avLst/>
          </a:prstGeom>
          <a:noFill/>
          <a:ln>
            <a:noFill/>
          </a:ln>
        </p:spPr>
      </p:pic>
      <p:pic>
        <p:nvPicPr>
          <p:cNvPr id="127" name="Google Shape;127;p19"/>
          <p:cNvPicPr preferRelativeResize="0"/>
          <p:nvPr/>
        </p:nvPicPr>
        <p:blipFill>
          <a:blip r:embed="rId5">
            <a:alphaModFix/>
          </a:blip>
          <a:stretch>
            <a:fillRect/>
          </a:stretch>
        </p:blipFill>
        <p:spPr>
          <a:xfrm>
            <a:off x="4755250" y="1680350"/>
            <a:ext cx="4077050" cy="2290500"/>
          </a:xfrm>
          <a:prstGeom prst="rect">
            <a:avLst/>
          </a:prstGeom>
          <a:noFill/>
          <a:ln>
            <a:noFill/>
          </a:ln>
        </p:spPr>
      </p:pic>
      <p:sp>
        <p:nvSpPr>
          <p:cNvPr id="128" name="Google Shape;128;p19"/>
          <p:cNvSpPr txBox="1"/>
          <p:nvPr/>
        </p:nvSpPr>
        <p:spPr>
          <a:xfrm>
            <a:off x="311700" y="1220788"/>
            <a:ext cx="1201200" cy="2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u="sng">
                <a:solidFill>
                  <a:schemeClr val="dk2"/>
                </a:solidFill>
              </a:rPr>
              <a:t>Serveur :</a:t>
            </a:r>
            <a:endParaRPr sz="1800" u="sng">
              <a:solidFill>
                <a:schemeClr val="dk2"/>
              </a:solidFill>
            </a:endParaRPr>
          </a:p>
        </p:txBody>
      </p:sp>
      <p:sp>
        <p:nvSpPr>
          <p:cNvPr id="129" name="Google Shape;129;p19"/>
          <p:cNvSpPr txBox="1"/>
          <p:nvPr/>
        </p:nvSpPr>
        <p:spPr>
          <a:xfrm>
            <a:off x="4755250" y="1220788"/>
            <a:ext cx="1201200" cy="2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u="sng">
                <a:solidFill>
                  <a:schemeClr val="dk2"/>
                </a:solidFill>
              </a:rPr>
              <a:t>Client :</a:t>
            </a:r>
            <a:r>
              <a:rPr lang="fr" sz="1800">
                <a:solidFill>
                  <a:schemeClr val="dk2"/>
                </a:solidFill>
              </a:rPr>
              <a:t> </a:t>
            </a:r>
            <a:endParaRPr sz="1800">
              <a:solidFill>
                <a:schemeClr val="dk2"/>
              </a:solidFill>
            </a:endParaRPr>
          </a:p>
        </p:txBody>
      </p:sp>
      <p:sp>
        <p:nvSpPr>
          <p:cNvPr id="130" name="Google Shape;130;p19"/>
          <p:cNvSpPr txBox="1"/>
          <p:nvPr/>
        </p:nvSpPr>
        <p:spPr>
          <a:xfrm>
            <a:off x="2224350" y="4309325"/>
            <a:ext cx="46953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 sz="1800">
                <a:solidFill>
                  <a:schemeClr val="dk2"/>
                </a:solidFill>
              </a:rPr>
              <a:t>~3 Mbits/s</a:t>
            </a:r>
            <a:endParaRPr sz="1800">
              <a:solidFill>
                <a:schemeClr val="dk2"/>
              </a:solidFill>
            </a:endParaRPr>
          </a:p>
        </p:txBody>
      </p:sp>
      <p:sp>
        <p:nvSpPr>
          <p:cNvPr id="2" name="ZoneTexte 1">
            <a:extLst>
              <a:ext uri="{FF2B5EF4-FFF2-40B4-BE49-F238E27FC236}">
                <a16:creationId xmlns:a16="http://schemas.microsoft.com/office/drawing/2014/main" id="{2D5544B4-737A-B53A-98D9-A4649DCF96C9}"/>
              </a:ext>
            </a:extLst>
          </p:cNvPr>
          <p:cNvSpPr txBox="1"/>
          <p:nvPr/>
        </p:nvSpPr>
        <p:spPr>
          <a:xfrm>
            <a:off x="122842" y="4633475"/>
            <a:ext cx="2415762" cy="615553"/>
          </a:xfrm>
          <a:prstGeom prst="rect">
            <a:avLst/>
          </a:prstGeom>
          <a:noFill/>
        </p:spPr>
        <p:txBody>
          <a:bodyPr wrap="square" rtlCol="0">
            <a:spAutoFit/>
          </a:bodyPr>
          <a:lstStyle/>
          <a:p>
            <a:r>
              <a:rPr lang="fr-FR" sz="1000" dirty="0" err="1"/>
              <a:t>Badreddine</a:t>
            </a:r>
            <a:r>
              <a:rPr lang="fr-FR" sz="1000" dirty="0"/>
              <a:t> </a:t>
            </a:r>
            <a:r>
              <a:rPr lang="fr-FR" sz="1000" dirty="0" err="1"/>
              <a:t>Iheb</a:t>
            </a:r>
            <a:r>
              <a:rPr lang="fr-FR" sz="1000" dirty="0"/>
              <a:t> / </a:t>
            </a:r>
            <a:r>
              <a:rPr lang="fr-FR" sz="1000" dirty="0" err="1"/>
              <a:t>Matheo</a:t>
            </a:r>
            <a:r>
              <a:rPr lang="fr-FR" sz="1000" dirty="0"/>
              <a:t> </a:t>
            </a:r>
            <a:r>
              <a:rPr lang="fr-FR" sz="1000" dirty="0" err="1"/>
              <a:t>Fritschy</a:t>
            </a:r>
            <a:r>
              <a:rPr lang="fr-FR" sz="1000" dirty="0"/>
              <a:t> / </a:t>
            </a:r>
            <a:r>
              <a:rPr lang="fr-FR" sz="1000" dirty="0" err="1"/>
              <a:t>Visca</a:t>
            </a:r>
            <a:r>
              <a:rPr lang="fr-FR" sz="1000" dirty="0"/>
              <a:t> Florian/Karcher Thibaut</a:t>
            </a:r>
          </a:p>
          <a:p>
            <a:endParaRPr lang="fr-F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Simulation du réseau sur Cisco Packet Tracer</a:t>
            </a:r>
            <a:endParaRPr/>
          </a:p>
        </p:txBody>
      </p:sp>
      <p:sp>
        <p:nvSpPr>
          <p:cNvPr id="136" name="Google Shape;13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8</a:t>
            </a:fld>
            <a:endParaRPr/>
          </a:p>
        </p:txBody>
      </p:sp>
      <p:pic>
        <p:nvPicPr>
          <p:cNvPr id="137" name="Google Shape;137;p20"/>
          <p:cNvPicPr preferRelativeResize="0"/>
          <p:nvPr/>
        </p:nvPicPr>
        <p:blipFill>
          <a:blip r:embed="rId3">
            <a:alphaModFix/>
          </a:blip>
          <a:stretch>
            <a:fillRect/>
          </a:stretch>
        </p:blipFill>
        <p:spPr>
          <a:xfrm>
            <a:off x="0" y="-1"/>
            <a:ext cx="1445500" cy="553325"/>
          </a:xfrm>
          <a:prstGeom prst="rect">
            <a:avLst/>
          </a:prstGeom>
          <a:noFill/>
          <a:ln>
            <a:noFill/>
          </a:ln>
        </p:spPr>
      </p:pic>
      <p:pic>
        <p:nvPicPr>
          <p:cNvPr id="138" name="Google Shape;138;p20"/>
          <p:cNvPicPr preferRelativeResize="0"/>
          <p:nvPr/>
        </p:nvPicPr>
        <p:blipFill>
          <a:blip r:embed="rId4">
            <a:alphaModFix/>
          </a:blip>
          <a:stretch>
            <a:fillRect/>
          </a:stretch>
        </p:blipFill>
        <p:spPr>
          <a:xfrm>
            <a:off x="388025" y="1017725"/>
            <a:ext cx="8367948" cy="3985550"/>
          </a:xfrm>
          <a:prstGeom prst="rect">
            <a:avLst/>
          </a:prstGeom>
          <a:noFill/>
          <a:ln>
            <a:noFill/>
          </a:ln>
        </p:spPr>
      </p:pic>
      <p:sp>
        <p:nvSpPr>
          <p:cNvPr id="2" name="ZoneTexte 1">
            <a:extLst>
              <a:ext uri="{FF2B5EF4-FFF2-40B4-BE49-F238E27FC236}">
                <a16:creationId xmlns:a16="http://schemas.microsoft.com/office/drawing/2014/main" id="{959D8F43-5CCA-5C1A-7548-E84EC4E613B4}"/>
              </a:ext>
            </a:extLst>
          </p:cNvPr>
          <p:cNvSpPr txBox="1"/>
          <p:nvPr/>
        </p:nvSpPr>
        <p:spPr>
          <a:xfrm>
            <a:off x="0" y="4912667"/>
            <a:ext cx="4017992" cy="461665"/>
          </a:xfrm>
          <a:prstGeom prst="rect">
            <a:avLst/>
          </a:prstGeom>
          <a:noFill/>
        </p:spPr>
        <p:txBody>
          <a:bodyPr wrap="square" rtlCol="0">
            <a:spAutoFit/>
          </a:bodyPr>
          <a:lstStyle/>
          <a:p>
            <a:r>
              <a:rPr lang="fr-FR" sz="1000" dirty="0" err="1"/>
              <a:t>Badreddine</a:t>
            </a:r>
            <a:r>
              <a:rPr lang="fr-FR" sz="1000" dirty="0"/>
              <a:t> </a:t>
            </a:r>
            <a:r>
              <a:rPr lang="fr-FR" sz="1000" dirty="0" err="1"/>
              <a:t>Iheb</a:t>
            </a:r>
            <a:r>
              <a:rPr lang="fr-FR" sz="1000" dirty="0"/>
              <a:t> / </a:t>
            </a:r>
            <a:r>
              <a:rPr lang="fr-FR" sz="1000" dirty="0" err="1"/>
              <a:t>Matheo</a:t>
            </a:r>
            <a:r>
              <a:rPr lang="fr-FR" sz="1000" dirty="0"/>
              <a:t> </a:t>
            </a:r>
            <a:r>
              <a:rPr lang="fr-FR" sz="1000" dirty="0" err="1"/>
              <a:t>Fritschy</a:t>
            </a:r>
            <a:r>
              <a:rPr lang="fr-FR" sz="1000" dirty="0"/>
              <a:t> / </a:t>
            </a:r>
            <a:r>
              <a:rPr lang="fr-FR" sz="1000" dirty="0" err="1"/>
              <a:t>Visca</a:t>
            </a:r>
            <a:r>
              <a:rPr lang="fr-FR" sz="1000" dirty="0"/>
              <a:t> Florian/Karcher Thibaut</a:t>
            </a:r>
          </a:p>
          <a:p>
            <a:endParaRPr lang="fr-F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Heatmap 1er étage bâtiment C</a:t>
            </a:r>
            <a:endParaRPr/>
          </a:p>
        </p:txBody>
      </p:sp>
      <p:sp>
        <p:nvSpPr>
          <p:cNvPr id="144" name="Google Shape;14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9</a:t>
            </a:fld>
            <a:endParaRPr/>
          </a:p>
        </p:txBody>
      </p:sp>
      <p:pic>
        <p:nvPicPr>
          <p:cNvPr id="145" name="Google Shape;145;p21"/>
          <p:cNvPicPr preferRelativeResize="0"/>
          <p:nvPr/>
        </p:nvPicPr>
        <p:blipFill>
          <a:blip r:embed="rId3">
            <a:alphaModFix/>
          </a:blip>
          <a:stretch>
            <a:fillRect/>
          </a:stretch>
        </p:blipFill>
        <p:spPr>
          <a:xfrm>
            <a:off x="0" y="-1"/>
            <a:ext cx="1445500" cy="553325"/>
          </a:xfrm>
          <a:prstGeom prst="rect">
            <a:avLst/>
          </a:prstGeom>
          <a:noFill/>
          <a:ln>
            <a:noFill/>
          </a:ln>
        </p:spPr>
      </p:pic>
      <p:pic>
        <p:nvPicPr>
          <p:cNvPr id="146" name="Google Shape;146;p21"/>
          <p:cNvPicPr preferRelativeResize="0"/>
          <p:nvPr/>
        </p:nvPicPr>
        <p:blipFill>
          <a:blip r:embed="rId4">
            <a:alphaModFix/>
          </a:blip>
          <a:stretch>
            <a:fillRect/>
          </a:stretch>
        </p:blipFill>
        <p:spPr>
          <a:xfrm>
            <a:off x="5922326" y="283150"/>
            <a:ext cx="2981899" cy="2098619"/>
          </a:xfrm>
          <a:prstGeom prst="rect">
            <a:avLst/>
          </a:prstGeom>
          <a:noFill/>
          <a:ln>
            <a:noFill/>
          </a:ln>
        </p:spPr>
      </p:pic>
      <p:pic>
        <p:nvPicPr>
          <p:cNvPr id="147" name="Google Shape;147;p21"/>
          <p:cNvPicPr preferRelativeResize="0"/>
          <p:nvPr/>
        </p:nvPicPr>
        <p:blipFill>
          <a:blip r:embed="rId5">
            <a:alphaModFix/>
          </a:blip>
          <a:stretch>
            <a:fillRect/>
          </a:stretch>
        </p:blipFill>
        <p:spPr>
          <a:xfrm>
            <a:off x="152400" y="1170125"/>
            <a:ext cx="4845049" cy="2146325"/>
          </a:xfrm>
          <a:prstGeom prst="rect">
            <a:avLst/>
          </a:prstGeom>
          <a:noFill/>
          <a:ln>
            <a:noFill/>
          </a:ln>
        </p:spPr>
      </p:pic>
      <p:pic>
        <p:nvPicPr>
          <p:cNvPr id="148" name="Google Shape;148;p21"/>
          <p:cNvPicPr preferRelativeResize="0"/>
          <p:nvPr/>
        </p:nvPicPr>
        <p:blipFill>
          <a:blip r:embed="rId6">
            <a:alphaModFix/>
          </a:blip>
          <a:stretch>
            <a:fillRect/>
          </a:stretch>
        </p:blipFill>
        <p:spPr>
          <a:xfrm>
            <a:off x="5711300" y="2798634"/>
            <a:ext cx="2981901" cy="1447734"/>
          </a:xfrm>
          <a:prstGeom prst="rect">
            <a:avLst/>
          </a:prstGeom>
          <a:noFill/>
          <a:ln>
            <a:noFill/>
          </a:ln>
        </p:spPr>
      </p:pic>
      <p:pic>
        <p:nvPicPr>
          <p:cNvPr id="149" name="Google Shape;149;p21"/>
          <p:cNvPicPr preferRelativeResize="0"/>
          <p:nvPr/>
        </p:nvPicPr>
        <p:blipFill>
          <a:blip r:embed="rId7">
            <a:alphaModFix/>
          </a:blip>
          <a:stretch>
            <a:fillRect/>
          </a:stretch>
        </p:blipFill>
        <p:spPr>
          <a:xfrm>
            <a:off x="1445500" y="3468850"/>
            <a:ext cx="3116900" cy="1609225"/>
          </a:xfrm>
          <a:prstGeom prst="rect">
            <a:avLst/>
          </a:prstGeom>
          <a:noFill/>
          <a:ln>
            <a:noFill/>
          </a:ln>
        </p:spPr>
      </p:pic>
      <p:sp>
        <p:nvSpPr>
          <p:cNvPr id="150" name="Google Shape;150;p21"/>
          <p:cNvSpPr txBox="1"/>
          <p:nvPr/>
        </p:nvSpPr>
        <p:spPr>
          <a:xfrm>
            <a:off x="5128875" y="1110375"/>
            <a:ext cx="924900" cy="127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b="1">
                <a:solidFill>
                  <a:schemeClr val="dk2"/>
                </a:solidFill>
              </a:rPr>
              <a:t>2,4 GHz</a:t>
            </a:r>
            <a:endParaRPr sz="1800" b="1">
              <a:solidFill>
                <a:schemeClr val="dk2"/>
              </a:solidFill>
            </a:endParaRPr>
          </a:p>
        </p:txBody>
      </p:sp>
      <p:sp>
        <p:nvSpPr>
          <p:cNvPr id="151" name="Google Shape;151;p21"/>
          <p:cNvSpPr txBox="1"/>
          <p:nvPr/>
        </p:nvSpPr>
        <p:spPr>
          <a:xfrm>
            <a:off x="311700" y="4090525"/>
            <a:ext cx="10620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b="1">
                <a:solidFill>
                  <a:schemeClr val="dk2"/>
                </a:solidFill>
              </a:rPr>
              <a:t>5 GHz :</a:t>
            </a:r>
            <a:endParaRPr sz="1800" b="1">
              <a:solidFill>
                <a:schemeClr val="dk2"/>
              </a:solidFill>
            </a:endParaRPr>
          </a:p>
        </p:txBody>
      </p:sp>
      <p:sp>
        <p:nvSpPr>
          <p:cNvPr id="2" name="ZoneTexte 1">
            <a:extLst>
              <a:ext uri="{FF2B5EF4-FFF2-40B4-BE49-F238E27FC236}">
                <a16:creationId xmlns:a16="http://schemas.microsoft.com/office/drawing/2014/main" id="{3906EF3E-45D0-F86A-F6CC-76DC5063E6A2}"/>
              </a:ext>
            </a:extLst>
          </p:cNvPr>
          <p:cNvSpPr txBox="1"/>
          <p:nvPr/>
        </p:nvSpPr>
        <p:spPr>
          <a:xfrm>
            <a:off x="5994369" y="4663217"/>
            <a:ext cx="2415762" cy="615553"/>
          </a:xfrm>
          <a:prstGeom prst="rect">
            <a:avLst/>
          </a:prstGeom>
          <a:noFill/>
        </p:spPr>
        <p:txBody>
          <a:bodyPr wrap="square" rtlCol="0">
            <a:spAutoFit/>
          </a:bodyPr>
          <a:lstStyle/>
          <a:p>
            <a:r>
              <a:rPr lang="fr-FR" sz="1000" dirty="0" err="1"/>
              <a:t>Badreddine</a:t>
            </a:r>
            <a:r>
              <a:rPr lang="fr-FR" sz="1000" dirty="0"/>
              <a:t> </a:t>
            </a:r>
            <a:r>
              <a:rPr lang="fr-FR" sz="1000" dirty="0" err="1"/>
              <a:t>Iheb</a:t>
            </a:r>
            <a:r>
              <a:rPr lang="fr-FR" sz="1000" dirty="0"/>
              <a:t> / </a:t>
            </a:r>
            <a:r>
              <a:rPr lang="fr-FR" sz="1000" dirty="0" err="1"/>
              <a:t>Matheo</a:t>
            </a:r>
            <a:r>
              <a:rPr lang="fr-FR" sz="1000" dirty="0"/>
              <a:t> </a:t>
            </a:r>
            <a:r>
              <a:rPr lang="fr-FR" sz="1000" dirty="0" err="1"/>
              <a:t>Fritschy</a:t>
            </a:r>
            <a:r>
              <a:rPr lang="fr-FR" sz="1000" dirty="0"/>
              <a:t> / </a:t>
            </a:r>
            <a:r>
              <a:rPr lang="fr-FR" sz="1000" dirty="0" err="1"/>
              <a:t>Visca</a:t>
            </a:r>
            <a:r>
              <a:rPr lang="fr-FR" sz="1000" dirty="0"/>
              <a:t> Florian/Karcher Thibaut</a:t>
            </a:r>
          </a:p>
          <a:p>
            <a:endParaRPr lang="fr-F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fr"/>
              <a:t>Heatmap RdC bâtiment C</a:t>
            </a:r>
            <a:endParaRPr/>
          </a:p>
        </p:txBody>
      </p:sp>
      <p:sp>
        <p:nvSpPr>
          <p:cNvPr id="157" name="Google Shape;157;p22"/>
          <p:cNvSpPr txBox="1">
            <a:spLocks noGrp="1"/>
          </p:cNvSpPr>
          <p:nvPr>
            <p:ph type="body" idx="1"/>
          </p:nvPr>
        </p:nvSpPr>
        <p:spPr>
          <a:xfrm>
            <a:off x="4139475" y="37013"/>
            <a:ext cx="2268600" cy="1388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
        <p:nvSpPr>
          <p:cNvPr id="158" name="Google Shape;15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10</a:t>
            </a:fld>
            <a:endParaRPr/>
          </a:p>
        </p:txBody>
      </p:sp>
      <p:pic>
        <p:nvPicPr>
          <p:cNvPr id="159" name="Google Shape;159;p22"/>
          <p:cNvPicPr preferRelativeResize="0"/>
          <p:nvPr/>
        </p:nvPicPr>
        <p:blipFill>
          <a:blip r:embed="rId3">
            <a:alphaModFix/>
          </a:blip>
          <a:stretch>
            <a:fillRect/>
          </a:stretch>
        </p:blipFill>
        <p:spPr>
          <a:xfrm>
            <a:off x="0" y="-1"/>
            <a:ext cx="1445500" cy="553325"/>
          </a:xfrm>
          <a:prstGeom prst="rect">
            <a:avLst/>
          </a:prstGeom>
          <a:noFill/>
          <a:ln>
            <a:noFill/>
          </a:ln>
        </p:spPr>
      </p:pic>
      <p:pic>
        <p:nvPicPr>
          <p:cNvPr id="160" name="Google Shape;160;p22"/>
          <p:cNvPicPr preferRelativeResize="0"/>
          <p:nvPr/>
        </p:nvPicPr>
        <p:blipFill>
          <a:blip r:embed="rId4">
            <a:alphaModFix/>
          </a:blip>
          <a:stretch>
            <a:fillRect/>
          </a:stretch>
        </p:blipFill>
        <p:spPr>
          <a:xfrm>
            <a:off x="311700" y="950046"/>
            <a:ext cx="3735626" cy="2059400"/>
          </a:xfrm>
          <a:prstGeom prst="rect">
            <a:avLst/>
          </a:prstGeom>
          <a:noFill/>
          <a:ln>
            <a:noFill/>
          </a:ln>
        </p:spPr>
      </p:pic>
      <p:pic>
        <p:nvPicPr>
          <p:cNvPr id="161" name="Google Shape;161;p22"/>
          <p:cNvPicPr preferRelativeResize="0"/>
          <p:nvPr/>
        </p:nvPicPr>
        <p:blipFill>
          <a:blip r:embed="rId5">
            <a:alphaModFix/>
          </a:blip>
          <a:stretch>
            <a:fillRect/>
          </a:stretch>
        </p:blipFill>
        <p:spPr>
          <a:xfrm>
            <a:off x="311700" y="3079543"/>
            <a:ext cx="3735625" cy="1911557"/>
          </a:xfrm>
          <a:prstGeom prst="rect">
            <a:avLst/>
          </a:prstGeom>
          <a:noFill/>
          <a:ln>
            <a:noFill/>
          </a:ln>
        </p:spPr>
      </p:pic>
      <p:pic>
        <p:nvPicPr>
          <p:cNvPr id="162" name="Google Shape;162;p22"/>
          <p:cNvPicPr preferRelativeResize="0"/>
          <p:nvPr/>
        </p:nvPicPr>
        <p:blipFill>
          <a:blip r:embed="rId6">
            <a:alphaModFix/>
          </a:blip>
          <a:stretch>
            <a:fillRect/>
          </a:stretch>
        </p:blipFill>
        <p:spPr>
          <a:xfrm>
            <a:off x="5701769" y="950049"/>
            <a:ext cx="2416506" cy="1666525"/>
          </a:xfrm>
          <a:prstGeom prst="rect">
            <a:avLst/>
          </a:prstGeom>
          <a:noFill/>
          <a:ln>
            <a:noFill/>
          </a:ln>
        </p:spPr>
      </p:pic>
      <p:pic>
        <p:nvPicPr>
          <p:cNvPr id="163" name="Google Shape;163;p22"/>
          <p:cNvPicPr preferRelativeResize="0"/>
          <p:nvPr/>
        </p:nvPicPr>
        <p:blipFill>
          <a:blip r:embed="rId7">
            <a:alphaModFix/>
          </a:blip>
          <a:stretch>
            <a:fillRect/>
          </a:stretch>
        </p:blipFill>
        <p:spPr>
          <a:xfrm>
            <a:off x="5719112" y="2975331"/>
            <a:ext cx="2381850" cy="1626368"/>
          </a:xfrm>
          <a:prstGeom prst="rect">
            <a:avLst/>
          </a:prstGeom>
          <a:noFill/>
          <a:ln>
            <a:noFill/>
          </a:ln>
        </p:spPr>
      </p:pic>
      <p:sp>
        <p:nvSpPr>
          <p:cNvPr id="164" name="Google Shape;164;p22"/>
          <p:cNvSpPr txBox="1"/>
          <p:nvPr/>
        </p:nvSpPr>
        <p:spPr>
          <a:xfrm>
            <a:off x="4326600" y="1358925"/>
            <a:ext cx="1095900" cy="109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b="1">
                <a:solidFill>
                  <a:schemeClr val="dk2"/>
                </a:solidFill>
              </a:rPr>
              <a:t>2,4GHz</a:t>
            </a:r>
            <a:endParaRPr sz="1800" b="1">
              <a:solidFill>
                <a:schemeClr val="dk2"/>
              </a:solidFill>
            </a:endParaRPr>
          </a:p>
        </p:txBody>
      </p:sp>
      <p:sp>
        <p:nvSpPr>
          <p:cNvPr id="165" name="Google Shape;165;p22"/>
          <p:cNvSpPr txBox="1"/>
          <p:nvPr/>
        </p:nvSpPr>
        <p:spPr>
          <a:xfrm>
            <a:off x="4284113" y="3758725"/>
            <a:ext cx="1198200" cy="55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fr" sz="1800" b="1">
                <a:solidFill>
                  <a:schemeClr val="dk2"/>
                </a:solidFill>
              </a:rPr>
              <a:t>5 GHz</a:t>
            </a:r>
            <a:endParaRPr sz="1800" b="1">
              <a:solidFill>
                <a:schemeClr val="dk2"/>
              </a:solidFill>
            </a:endParaRPr>
          </a:p>
        </p:txBody>
      </p:sp>
      <p:sp>
        <p:nvSpPr>
          <p:cNvPr id="2" name="ZoneTexte 1">
            <a:extLst>
              <a:ext uri="{FF2B5EF4-FFF2-40B4-BE49-F238E27FC236}">
                <a16:creationId xmlns:a16="http://schemas.microsoft.com/office/drawing/2014/main" id="{2ACF8D41-37FF-B3B9-1462-3B3CECE35AF4}"/>
              </a:ext>
            </a:extLst>
          </p:cNvPr>
          <p:cNvSpPr txBox="1"/>
          <p:nvPr/>
        </p:nvSpPr>
        <p:spPr>
          <a:xfrm>
            <a:off x="4455946" y="4787837"/>
            <a:ext cx="4600712" cy="461665"/>
          </a:xfrm>
          <a:prstGeom prst="rect">
            <a:avLst/>
          </a:prstGeom>
          <a:noFill/>
        </p:spPr>
        <p:txBody>
          <a:bodyPr wrap="square" rtlCol="0">
            <a:spAutoFit/>
          </a:bodyPr>
          <a:lstStyle/>
          <a:p>
            <a:r>
              <a:rPr lang="fr-FR" sz="1000" dirty="0" err="1"/>
              <a:t>Badreddine</a:t>
            </a:r>
            <a:r>
              <a:rPr lang="fr-FR" sz="1000" dirty="0"/>
              <a:t> </a:t>
            </a:r>
            <a:r>
              <a:rPr lang="fr-FR" sz="1000" dirty="0" err="1"/>
              <a:t>Iheb</a:t>
            </a:r>
            <a:r>
              <a:rPr lang="fr-FR" sz="1000" dirty="0"/>
              <a:t> / </a:t>
            </a:r>
            <a:r>
              <a:rPr lang="fr-FR" sz="1000" dirty="0" err="1"/>
              <a:t>Matheo</a:t>
            </a:r>
            <a:r>
              <a:rPr lang="fr-FR" sz="1000" dirty="0"/>
              <a:t> </a:t>
            </a:r>
            <a:r>
              <a:rPr lang="fr-FR" sz="1000" dirty="0" err="1"/>
              <a:t>Fritschy</a:t>
            </a:r>
            <a:r>
              <a:rPr lang="fr-FR" sz="1000" dirty="0"/>
              <a:t> / </a:t>
            </a:r>
            <a:r>
              <a:rPr lang="fr-FR" sz="1000" dirty="0" err="1"/>
              <a:t>Visca</a:t>
            </a:r>
            <a:r>
              <a:rPr lang="fr-FR" sz="1000" dirty="0"/>
              <a:t> Florian/Karcher Thibaut</a:t>
            </a:r>
          </a:p>
          <a:p>
            <a:endParaRPr lang="fr-F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t>Remerciement</a:t>
            </a:r>
            <a:endParaRPr dirty="0"/>
          </a:p>
        </p:txBody>
      </p:sp>
      <p:sp>
        <p:nvSpPr>
          <p:cNvPr id="171" name="Google Shape;171;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endParaRPr lang="fr-FR" dirty="0"/>
          </a:p>
          <a:p>
            <a:pPr marL="0" lvl="0" indent="0" algn="l" rtl="0">
              <a:spcBef>
                <a:spcPts val="1200"/>
              </a:spcBef>
              <a:spcAft>
                <a:spcPts val="0"/>
              </a:spcAft>
              <a:buClr>
                <a:schemeClr val="dk1"/>
              </a:buClr>
              <a:buSzPts val="1100"/>
              <a:buFont typeface="Arial"/>
              <a:buNone/>
            </a:pPr>
            <a:endParaRPr dirty="0"/>
          </a:p>
          <a:p>
            <a:pPr marL="0" lvl="0" indent="0" algn="l" rtl="0">
              <a:spcBef>
                <a:spcPts val="1200"/>
              </a:spcBef>
              <a:spcAft>
                <a:spcPts val="0"/>
              </a:spcAft>
              <a:buClr>
                <a:schemeClr val="dk1"/>
              </a:buClr>
              <a:buSzPts val="1100"/>
              <a:buFont typeface="Arial"/>
              <a:buNone/>
            </a:pPr>
            <a:endParaRPr dirty="0"/>
          </a:p>
          <a:p>
            <a:pPr marL="0" lvl="0" indent="0" algn="l" rtl="0">
              <a:spcBef>
                <a:spcPts val="1200"/>
              </a:spcBef>
              <a:spcAft>
                <a:spcPts val="1200"/>
              </a:spcAft>
              <a:buNone/>
            </a:pPr>
            <a:endParaRPr dirty="0"/>
          </a:p>
        </p:txBody>
      </p:sp>
      <p:sp>
        <p:nvSpPr>
          <p:cNvPr id="172" name="Google Shape;17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fr"/>
              <a:t>11</a:t>
            </a:fld>
            <a:endParaRPr/>
          </a:p>
        </p:txBody>
      </p:sp>
      <p:pic>
        <p:nvPicPr>
          <p:cNvPr id="173" name="Google Shape;173;p23"/>
          <p:cNvPicPr preferRelativeResize="0"/>
          <p:nvPr/>
        </p:nvPicPr>
        <p:blipFill>
          <a:blip r:embed="rId3">
            <a:alphaModFix/>
          </a:blip>
          <a:stretch>
            <a:fillRect/>
          </a:stretch>
        </p:blipFill>
        <p:spPr>
          <a:xfrm>
            <a:off x="0" y="-1"/>
            <a:ext cx="1445500" cy="553325"/>
          </a:xfrm>
          <a:prstGeom prst="rect">
            <a:avLst/>
          </a:prstGeom>
          <a:noFill/>
          <a:ln>
            <a:noFill/>
          </a:ln>
        </p:spPr>
      </p:pic>
      <p:graphicFrame>
        <p:nvGraphicFramePr>
          <p:cNvPr id="174" name="Google Shape;174;p23"/>
          <p:cNvGraphicFramePr/>
          <p:nvPr/>
        </p:nvGraphicFramePr>
        <p:xfrm>
          <a:off x="812550" y="1901875"/>
          <a:ext cx="7239000" cy="2377260"/>
        </p:xfrm>
        <a:graphic>
          <a:graphicData uri="http://schemas.openxmlformats.org/drawingml/2006/table">
            <a:tbl>
              <a:tblPr>
                <a:noFill/>
                <a:tableStyleId>{A06D006D-EF1B-4D34-B3C7-19F9FCD0BD6F}</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fr"/>
                        <a:t>Mercredi 08/11/2023</a:t>
                      </a:r>
                      <a:endParaRPr/>
                    </a:p>
                  </a:txBody>
                  <a:tcPr marL="91425" marR="91425" marT="91425" marB="91425"/>
                </a:tc>
                <a:tc>
                  <a:txBody>
                    <a:bodyPr/>
                    <a:lstStyle/>
                    <a:p>
                      <a:pPr marL="0" lvl="0" indent="0" algn="l" rtl="0">
                        <a:spcBef>
                          <a:spcPts val="0"/>
                        </a:spcBef>
                        <a:spcAft>
                          <a:spcPts val="0"/>
                        </a:spcAft>
                        <a:buNone/>
                      </a:pPr>
                      <a:r>
                        <a:rPr lang="fr"/>
                        <a:t>03h30</a:t>
                      </a:r>
                      <a:endParaRPr/>
                    </a:p>
                  </a:txBody>
                  <a:tcPr marL="91425" marR="91425" marT="91425" marB="91425"/>
                </a:tc>
                <a:tc>
                  <a:txBody>
                    <a:bodyPr/>
                    <a:lstStyle/>
                    <a:p>
                      <a:pPr marL="0" lvl="0" indent="0" algn="l" rtl="0">
                        <a:spcBef>
                          <a:spcPts val="0"/>
                        </a:spcBef>
                        <a:spcAft>
                          <a:spcPts val="0"/>
                        </a:spcAft>
                        <a:buNone/>
                      </a:pPr>
                      <a:r>
                        <a:rPr lang="fr"/>
                        <a:t>TP encadré</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fr"/>
                        <a:t>mercredi 15/11/2023</a:t>
                      </a:r>
                      <a:endParaRPr/>
                    </a:p>
                  </a:txBody>
                  <a:tcPr marL="91425" marR="91425" marT="91425" marB="91425"/>
                </a:tc>
                <a:tc>
                  <a:txBody>
                    <a:bodyPr/>
                    <a:lstStyle/>
                    <a:p>
                      <a:pPr marL="0" lvl="0" indent="0" algn="l" rtl="0">
                        <a:spcBef>
                          <a:spcPts val="0"/>
                        </a:spcBef>
                        <a:spcAft>
                          <a:spcPts val="0"/>
                        </a:spcAft>
                        <a:buNone/>
                      </a:pPr>
                      <a:r>
                        <a:rPr lang="fr"/>
                        <a:t>03h30</a:t>
                      </a:r>
                      <a:endParaRPr/>
                    </a:p>
                  </a:txBody>
                  <a:tcPr marL="91425" marR="91425" marT="91425" marB="91425"/>
                </a:tc>
                <a:tc>
                  <a:txBody>
                    <a:bodyPr/>
                    <a:lstStyle/>
                    <a:p>
                      <a:pPr marL="0" lvl="0" indent="0" algn="l" rtl="0">
                        <a:spcBef>
                          <a:spcPts val="0"/>
                        </a:spcBef>
                        <a:spcAft>
                          <a:spcPts val="0"/>
                        </a:spcAft>
                        <a:buNone/>
                      </a:pPr>
                      <a:r>
                        <a:rPr lang="fr"/>
                        <a:t>Autonomie</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fr"/>
                        <a:t>Vendredi 24/11/2023</a:t>
                      </a:r>
                      <a:endParaRPr/>
                    </a:p>
                  </a:txBody>
                  <a:tcPr marL="91425" marR="91425" marT="91425" marB="91425"/>
                </a:tc>
                <a:tc>
                  <a:txBody>
                    <a:bodyPr/>
                    <a:lstStyle/>
                    <a:p>
                      <a:pPr marL="0" lvl="0" indent="0" algn="l" rtl="0">
                        <a:spcBef>
                          <a:spcPts val="0"/>
                        </a:spcBef>
                        <a:spcAft>
                          <a:spcPts val="0"/>
                        </a:spcAft>
                        <a:buNone/>
                      </a:pPr>
                      <a:r>
                        <a:rPr lang="fr"/>
                        <a:t>03h30</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fr">
                          <a:solidFill>
                            <a:schemeClr val="dk1"/>
                          </a:solidFill>
                        </a:rPr>
                        <a:t>Autonomie</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fr"/>
                        <a:t>Mercredi 29/11/2023</a:t>
                      </a:r>
                      <a:endParaRPr/>
                    </a:p>
                  </a:txBody>
                  <a:tcPr marL="91425" marR="91425" marT="91425" marB="91425"/>
                </a:tc>
                <a:tc>
                  <a:txBody>
                    <a:bodyPr/>
                    <a:lstStyle/>
                    <a:p>
                      <a:pPr marL="0" lvl="0" indent="0" algn="l" rtl="0">
                        <a:spcBef>
                          <a:spcPts val="0"/>
                        </a:spcBef>
                        <a:spcAft>
                          <a:spcPts val="0"/>
                        </a:spcAft>
                        <a:buNone/>
                      </a:pPr>
                      <a:r>
                        <a:rPr lang="fr"/>
                        <a:t>03h30</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fr">
                          <a:solidFill>
                            <a:schemeClr val="dk1"/>
                          </a:solidFill>
                        </a:rPr>
                        <a:t>Autonomie</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fr"/>
                        <a:t>Mardi 12/12/2023</a:t>
                      </a:r>
                      <a:endParaRPr/>
                    </a:p>
                  </a:txBody>
                  <a:tcPr marL="91425" marR="91425" marT="91425" marB="91425"/>
                </a:tc>
                <a:tc>
                  <a:txBody>
                    <a:bodyPr/>
                    <a:lstStyle/>
                    <a:p>
                      <a:pPr marL="0" lvl="0" indent="0" algn="l" rtl="0">
                        <a:spcBef>
                          <a:spcPts val="0"/>
                        </a:spcBef>
                        <a:spcAft>
                          <a:spcPts val="0"/>
                        </a:spcAft>
                        <a:buNone/>
                      </a:pPr>
                      <a:r>
                        <a:rPr lang="fr"/>
                        <a:t>1h45</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fr">
                          <a:solidFill>
                            <a:schemeClr val="dk1"/>
                          </a:solidFill>
                        </a:rPr>
                        <a:t>Autonomie</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fr"/>
                        <a:t>Mercredi 13/12/2023</a:t>
                      </a:r>
                      <a:endParaRPr/>
                    </a:p>
                  </a:txBody>
                  <a:tcPr marL="91425" marR="91425" marT="91425" marB="91425"/>
                </a:tc>
                <a:tc>
                  <a:txBody>
                    <a:bodyPr/>
                    <a:lstStyle/>
                    <a:p>
                      <a:pPr marL="0" lvl="0" indent="0" algn="l" rtl="0">
                        <a:spcBef>
                          <a:spcPts val="0"/>
                        </a:spcBef>
                        <a:spcAft>
                          <a:spcPts val="0"/>
                        </a:spcAft>
                        <a:buNone/>
                      </a:pPr>
                      <a:r>
                        <a:rPr lang="fr"/>
                        <a:t>1h45</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fr">
                          <a:solidFill>
                            <a:schemeClr val="dk1"/>
                          </a:solidFill>
                        </a:rPr>
                        <a:t>Autonomie</a:t>
                      </a:r>
                      <a:endParaRPr/>
                    </a:p>
                  </a:txBody>
                  <a:tcPr marL="91425" marR="91425" marT="91425" marB="91425"/>
                </a:tc>
                <a:extLst>
                  <a:ext uri="{0D108BD9-81ED-4DB2-BD59-A6C34878D82A}">
                    <a16:rowId xmlns:a16="http://schemas.microsoft.com/office/drawing/2014/main" val="10005"/>
                  </a:ext>
                </a:extLst>
              </a:tr>
            </a:tbl>
          </a:graphicData>
        </a:graphic>
      </p:graphicFrame>
      <p:sp>
        <p:nvSpPr>
          <p:cNvPr id="2" name="ZoneTexte 1">
            <a:extLst>
              <a:ext uri="{FF2B5EF4-FFF2-40B4-BE49-F238E27FC236}">
                <a16:creationId xmlns:a16="http://schemas.microsoft.com/office/drawing/2014/main" id="{7097C235-3245-84F0-06A6-5E10C3F4DDDE}"/>
              </a:ext>
            </a:extLst>
          </p:cNvPr>
          <p:cNvSpPr txBox="1"/>
          <p:nvPr/>
        </p:nvSpPr>
        <p:spPr>
          <a:xfrm>
            <a:off x="311700" y="4568875"/>
            <a:ext cx="2415762" cy="615553"/>
          </a:xfrm>
          <a:prstGeom prst="rect">
            <a:avLst/>
          </a:prstGeom>
          <a:noFill/>
        </p:spPr>
        <p:txBody>
          <a:bodyPr wrap="square" rtlCol="0">
            <a:spAutoFit/>
          </a:bodyPr>
          <a:lstStyle/>
          <a:p>
            <a:r>
              <a:rPr lang="fr-FR" sz="1000" dirty="0" err="1"/>
              <a:t>Badreddine</a:t>
            </a:r>
            <a:r>
              <a:rPr lang="fr-FR" sz="1000" dirty="0"/>
              <a:t> </a:t>
            </a:r>
            <a:r>
              <a:rPr lang="fr-FR" sz="1000" dirty="0" err="1"/>
              <a:t>Iheb</a:t>
            </a:r>
            <a:r>
              <a:rPr lang="fr-FR" sz="1000" dirty="0"/>
              <a:t> / </a:t>
            </a:r>
            <a:r>
              <a:rPr lang="fr-FR" sz="1000" dirty="0" err="1"/>
              <a:t>Matheo</a:t>
            </a:r>
            <a:r>
              <a:rPr lang="fr-FR" sz="1000" dirty="0"/>
              <a:t> </a:t>
            </a:r>
            <a:r>
              <a:rPr lang="fr-FR" sz="1000" dirty="0" err="1"/>
              <a:t>Fritschy</a:t>
            </a:r>
            <a:r>
              <a:rPr lang="fr-FR" sz="1000" dirty="0"/>
              <a:t> / </a:t>
            </a:r>
            <a:r>
              <a:rPr lang="fr-FR" sz="1000" dirty="0" err="1"/>
              <a:t>Visca</a:t>
            </a:r>
            <a:r>
              <a:rPr lang="fr-FR" sz="1000" dirty="0"/>
              <a:t> Florian/Karcher Thibaut</a:t>
            </a:r>
          </a:p>
          <a:p>
            <a:endParaRPr lang="fr-FR"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510</Words>
  <Application>Microsoft Office PowerPoint</Application>
  <PresentationFormat>Affichage à l'écran (16:9)</PresentationFormat>
  <Paragraphs>77</Paragraphs>
  <Slides>11</Slides>
  <Notes>11</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11</vt:i4>
      </vt:variant>
    </vt:vector>
  </HeadingPairs>
  <TitlesOfParts>
    <vt:vector size="14" baseType="lpstr">
      <vt:lpstr>Arial</vt:lpstr>
      <vt:lpstr>Calibri</vt:lpstr>
      <vt:lpstr>Simple Light</vt:lpstr>
      <vt:lpstr>SAE13: </vt:lpstr>
      <vt:lpstr>Notre câblage</vt:lpstr>
      <vt:lpstr>Nos mesures PoE du Commutateur Cisco Catalyst 2960-Plus 24PC-L </vt:lpstr>
      <vt:lpstr>Mesures du réseau GRA_802.11g</vt:lpstr>
      <vt:lpstr>Mesures du réseau GRA_802.11a</vt:lpstr>
      <vt:lpstr>Heatmap du réseau GR.A</vt:lpstr>
      <vt:lpstr>Débits descendants</vt:lpstr>
      <vt:lpstr>Simulation du réseau sur Cisco Packet Tracer</vt:lpstr>
      <vt:lpstr>Heatmap 1er étage bâtiment C</vt:lpstr>
      <vt:lpstr>Heatmap RdC bâtiment C</vt:lpstr>
      <vt:lpstr>Remerciement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SAE13: </dc:title>
  <cp:lastModifiedBy>FLORIAN VISCA</cp:lastModifiedBy>
  <cp:revision>1</cp:revision>
  <dcterms:modified xsi:type="dcterms:W3CDTF">2023-12-14T21:17:35Z</dcterms:modified>
</cp:coreProperties>
</file>